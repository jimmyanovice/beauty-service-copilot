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作品背景与场景洞察" id="{f15f412f-441b-0d61-638e-102666b13ba8}">
          <p14:sldIdLst>
            <p14:sldId id="256"/>
            <p14:sldId id="257"/>
            <p14:sldId id="258"/>
            <p14:sldId id="259"/>
          </p14:sldIdLst>
        </p14:section>
        <p14:section name="技术方案" id="{0b7711df-bded-8983-0a55-c991e11d721f}">
          <p14:sldIdLst>
            <p14:sldId id="260"/>
            <p14:sldId id="261"/>
            <p14:sldId id="262"/>
            <p14:sldId id="263"/>
          </p14:sldIdLst>
        </p14:section>
        <p14:section name="核心功能演示" id="{8d6eb2f7-38c8-9712-20d2-5a84e55ad2c2}">
          <p14:sldIdLst>
            <p14:sldId id="264"/>
            <p14:sldId id="265"/>
            <p14:sldId id="266"/>
          </p14:sldIdLst>
        </p14:section>
        <p14:section name="落地价值" id="{433550b6-c2ba-f537-5031-241a708ff171}">
          <p14:sldIdLst>
            <p14:sldId id="267"/>
            <p14:sldId id="268"/>
            <p14:sldId id="269"/>
          </p14:sldIdLst>
        </p14:section>
        <p14:section name="未来规划" id="{002dbcec-7d8f-5f88-5705-c590bf6f6ca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作品定位是美妆电商的人工客服辅助工具。正文依次介绍作品背景与场景洞察、技术方案、核心功能演示、落地价值及未来规划。应用生成建议和人工任务，不执行真实退款或发送客户消息。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背景来自用户提供的赛题要求，见docs/CONTEST_REQUIREMENTS.md。信息分散和共情不足属于赛题场景描述，没有新增市场规模、真实客诉率或人效数据。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场景来源：evaluation/results/submission_ui_20261010/rehearsal.json。退款案例S00381的分析时点为2026-05-19 15:44:33。举报案例S00076的分析时点为2026-05-08 15:53:44。页面正文为原案例的简要概述，不是新采集的真实消费者数据。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这页说明本作品在客服场景中的具体设计取舍，不声称这些机制是行业首创，也不把所有聊天机器人概括为只有单轮问答。能力依据见实际LangGraph工作流、时点隔离和两场景彩排。没有推算真实人工节省比例。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实现路径：src/orchestration/workbench_workflow.py、src/agents/assist_agent.py、src/ops/case_store.py。Verify节点补充证据和复核任务，文本与业务声明校验发生在Draft调用的AssistAgent中。人工审核在应用接口另存，未使用LangGraph interrupt或持久化checkpoint。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数量来源：data/contest/manifest.json及/api/sessions。工单数量为24+13+15+10+18=80。时点隔离实现见src/data/contest_data.py。S00381工单创建时间16:26:33晚于15:44:33，历史回放排除该记录。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实现见src/agents/intent_agent.py、emotion_agent.py、assist_agent.py及src/risk/beauty_risk_rules.py。分类分数为启发式分，不是校准概率。低置信意图条件字段t与回复共用一次模型请求，不新增独立分类调用。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现见src/models/qwen_wrapper.py、src/knowledge/business_claims.py、service_guidance.py、src/optimization/smart_cache.py及evidence_routing.py。限用证据路径需满足严格条件，缓存命中仍执行本次风险检查。字段结构有效或规则无检出都不能代表完整语义正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来源：evaluation/results/submission_ui_20261010/02_refund_draft.png。左侧保留完整原图，右侧放大原截图的辅助区局部，未重绘或改写文字。录制操作：选择指定消息，先看附件快照，再切历史回放并生成建议。未来工单HV1005604873被排除。回复核入库、售后关闭原因和退款流水，仍需人工核实，不表明退款已经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截图来源：evaluation/results/submission_ui_20261010/03_review_and_followup.png。rehearsal.json记录编辑采纳、任务认领和生命周期的操作通过。应用未向买家发送消息，演示任务完成也不修改商家退款状态。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截图来源：evaluation/results/submission_ui_20261010/06_risk_owned.png。场景S00076，消息92900836378476.PNM，2026-05-08 15:53:44。原句是条件式举报表达。系统预警并认领人工任务，不把消费者认定为违规，不判定假货，不提前关闭未核实事项。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这页陈述预期落地价值及支持它的已实现机制，不声称已测得真实线上收益。H的20条任务级效率计时记录不完整，不能报告人工节省比例。适合先在人工审核模式开展小范围业务试点。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evaluation/results/accuracy_cost_paired_20261009.json和submission_release_20261010_v2/quality_summary_v2.json。三项主要数字均来自10月9日44次交替模型请求的协议对照，排除确定性证据路径。下方另列10月10日12个系统请求，含1个证据路径。不同实验不能合并，小样本顺序运行不代表生产并发SLA、云账单或硬件运营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软件回归来源：evaluation/results/submission_release_20261010_v2/regression_20261011.xml。30条人工标注来源及用户确认保留，误点建议按钮不自动认定采用候选。事后规则回归来源：accuracy_cost_frozen_retest_20261009.json，意图Macro-F1从约0.5548降至0.4629。混合情绪词表和场景口径不同，高风险正例为0，不能报告召回。回复检查来源为当前12例质量汇总，0检出不等于100%人工正确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未来安排没有确定截止时间或量化收益承诺。当前使用本地Qwen3:8b文本模型，图片理解、真实品牌知识库、生产鉴权和平台接口还未完成。先在人工审核模式开展试点，再根据效果决定接入范围。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68680"/>
            <a:ext cx="128016" cy="4434840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" y="1874520"/>
            <a:ext cx="9692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美妆客服共情副驾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24712" y="2907792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6DC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辅助人工客服核对证据、回应困扰、持续跟进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4712" y="517550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C4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赛题一：数据共情者 - 消费者的AI管家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4712" y="56692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C4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初赛作品展示，使用赛题虚构业务数据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作品背景：美妆客服的多系统接待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赛题关注高并发咨询下的信息分散、回复共情和服务风险跟踪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作品背景与场景洞察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28800"/>
            <a:ext cx="64008" cy="3337560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记录分散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聊天、订单和售后工单需要来回查。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同一个问题可能反复询问订单信息。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828800"/>
            <a:ext cx="64008" cy="3337560"/>
          </a:xfrm>
          <a:prstGeom prst="rect">
            <a:avLst/>
          </a:prstGeom>
          <a:solidFill>
            <a:srgbClr val="D09A5C"/>
          </a:solidFill>
          <a:ln w="12700">
            <a:solidFill>
              <a:srgbClr val="D09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建议缺少依据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肤质担忧、退款焦急和产品疑虑需要不同回应。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模板回复很难解释具体处理路径。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828800"/>
            <a:ext cx="64008" cy="3337560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风险跟踪断开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66760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举报、重复进线等异常出现后，需要保留核查事项和处理状态。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5413248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5522976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设计围绕客服实际接待：把相关记录放在一起，给出可审核的回复，再持续跟进。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场景洞察：消费者诉求背后的担忧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退款受阻与真伪疑虑，是已用真实界面彩排的两个MOCK场景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作品背景与场景洞察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5175504" cy="3346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28800"/>
            <a:ext cx="64008" cy="3346704"/>
          </a:xfrm>
          <a:prstGeom prst="rect">
            <a:avLst/>
          </a:prstGeom>
          <a:solidFill>
            <a:srgbClr val="D09A5C"/>
          </a:solidFill>
          <a:ln w="12700">
            <a:solidFill>
              <a:srgbClr val="D09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002536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退货后退款受阻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560320"/>
            <a:ext cx="471830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消费者反馈仓库签收了退货，售后却关闭，钱退不出来。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客服要查入库、关闭原因和退款流水，回复先回应等待中的焦急。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5166360" cy="3346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828800"/>
            <a:ext cx="64008" cy="3346704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00253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真伪疑虑升级举报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83680" y="2560320"/>
            <a:ext cx="470916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消费者提供批次号，并表示查不出来就去平台举报。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客服要核规格、批次和渠道依据，把持续核查交给人工任务。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5413248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5522976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处理建议需要同时说明当前问题、已有依据和还要查什么。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场景洞察：本作品的设计取舍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围绕实际接待，把多源证据、分析时点和持续核查纳入建议流程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作品背景与场景洞察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28800"/>
            <a:ext cx="64008" cy="3337560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三源证据放在一起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聊天解释消费者诉求，订单和工单提供业务依据。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消费者自述与后台字段分别保留，已有信息直接沿用。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828800"/>
            <a:ext cx="64008" cy="3337560"/>
          </a:xfrm>
          <a:prstGeom prst="rect">
            <a:avLst/>
          </a:prstGeom>
          <a:solidFill>
            <a:srgbClr val="D09A5C"/>
          </a:solidFill>
          <a:ln w="12700">
            <a:solidFill>
              <a:srgbClr val="D09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分析时点明确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后来产生的工单不提前用于历史建议。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不能还原的状态标为未知，不把后续处理写成当时已完成。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828800"/>
            <a:ext cx="64008" cy="3337560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核查持续到任务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66760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风险先登记，再等待建议生成。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客服审核、认领和记录处置，未完成事项继续跟踪。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5413248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5522976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产品重点是服务证据和人工处置流程，开源模型负责生成可审核的辅助建议。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技术方案：工作台与Agent工作流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Flask工作台，本地Qwen3:8b生成建议，LangGraph编排，SQLite保存操作记录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47088"/>
            <a:ext cx="1967789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多源证据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882189" y="1847088"/>
            <a:ext cx="1967789" cy="1115568"/>
          </a:xfrm>
          <a:prstGeom prst="rect">
            <a:avLst/>
          </a:prstGeom>
          <a:solidFill>
            <a:srgbClr val="DCECE7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6781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46781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风险检查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06010" y="1847088"/>
            <a:ext cx="1967789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0602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70602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Draft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建议生成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29830" y="1847088"/>
            <a:ext cx="1967789" cy="1115568"/>
          </a:xfrm>
          <a:prstGeom prst="rect">
            <a:avLst/>
          </a:prstGeom>
          <a:solidFill>
            <a:srgbClr val="DCECE7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4422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4422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关联复核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553651" y="1847088"/>
            <a:ext cx="1967789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18243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18243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结果留存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58368" y="3657600"/>
            <a:ext cx="5175504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3657600"/>
            <a:ext cx="64008" cy="1682496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3831336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风险先登记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86968" y="4389120"/>
            <a:ext cx="4718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Safety节点先保存风险任务，再进入可选的知识检索和模型生成。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55080" y="3657600"/>
            <a:ext cx="516636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3657600"/>
            <a:ext cx="64008" cy="1682496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83133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人工审核另存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583680" y="4389120"/>
            <a:ext cx="4709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客服编辑、采纳或拒绝建议。回复原稿与任务历史可查询。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58368" y="5504688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5614416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模型输出摘要、情绪、风险、证据ID、待核项、回复草稿和下一步。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技术方案：多源融合与服务时点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导入138个虚构会话、998条消息、113笔订单和80张工单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47088"/>
            <a:ext cx="1967789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当前买家消息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882189" y="1847088"/>
            <a:ext cx="1967789" cy="1115568"/>
          </a:xfrm>
          <a:prstGeom prst="rect">
            <a:avLst/>
          </a:prstGeom>
          <a:solidFill>
            <a:srgbClr val="DCECE7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6781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46781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历史对话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06010" y="1847088"/>
            <a:ext cx="1967789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0602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70602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订单记录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29830" y="1847088"/>
            <a:ext cx="1967789" cy="1115568"/>
          </a:xfrm>
          <a:prstGeom prst="rect">
            <a:avLst/>
          </a:prstGeom>
          <a:solidFill>
            <a:srgbClr val="DCECE7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4422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4422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售后工单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553651" y="1847088"/>
            <a:ext cx="1967789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18243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18243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关联证据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58368" y="3657600"/>
            <a:ext cx="517550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3657600"/>
            <a:ext cx="64008" cy="1719072"/>
          </a:xfrm>
          <a:prstGeom prst="rect">
            <a:avLst/>
          </a:prstGeom>
          <a:solidFill>
            <a:srgbClr val="D09A5C"/>
          </a:solidFill>
          <a:ln w="12700">
            <a:solidFill>
              <a:srgbClr val="D09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3831336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附件快照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86968" y="4389120"/>
            <a:ext cx="4718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展示赛题附件提供的业务字段。快照状态还需核实是否适用于当前问题。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55080" y="3657600"/>
            <a:ext cx="51663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3657600"/>
            <a:ext cx="64008" cy="17190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83133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历史回放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583680" y="4389120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排除分析时点之后的消息和工单。不能还原的历史状态明确标为未知。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58368" y="5504688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5614416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脱敏昵称仅提供关联候选，人工填写依据后才合并跨会话轨迹。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技术方案：意图、情绪与风险分析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明确请求先识别，模糊意图由同一次模型生成补判，基础情绪与场景标签分开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5175504" cy="3328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28800"/>
            <a:ext cx="64008" cy="3328416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002536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当前诉求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560320"/>
            <a:ext cx="471830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16类业务意图及unknown。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明确退款、物流、改址等诉求优先识别，否定表达单独检查。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规则结论、模型结论和采用来源分别留存。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5166360" cy="3328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828800"/>
            <a:ext cx="64008" cy="3328416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00253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情绪与服务风险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83680" y="2560320"/>
            <a:ext cx="470916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担忧、生气等基础情绪与场景标签分开。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退款焦急不自动归为过敏焦虑。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举报、重复进线和情绪升级进入人工复核任务。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5413248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5522976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风险规则下限不会由模型降低。系统给出服务优先级，医疗和商品真伪由人工核查。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技术方案：证据保护与成本控制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结构化生成后核对业务声明，精确重复请求使用按版本隔离的缓存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792224"/>
            <a:ext cx="5175504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92224"/>
            <a:ext cx="64008" cy="1755648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965960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结构与事实校验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523744"/>
            <a:ext cx="4718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Schema约束字段，Pydantic检查结构。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金额、状态、来源和未执行承诺再做业务核对。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1792224"/>
            <a:ext cx="51663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792224"/>
            <a:ext cx="64008" cy="1755648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96596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原稿与修正留证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83680" y="2523744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未核实的批次、包装和运输原因需修正。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未知证据移除时记录原因，客服可查看前后文本。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3749040"/>
            <a:ext cx="5175504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749040"/>
            <a:ext cx="64008" cy="1755648"/>
          </a:xfrm>
          <a:prstGeom prst="rect">
            <a:avLst/>
          </a:prstGeom>
          <a:solidFill>
            <a:srgbClr val="D09A5C"/>
          </a:solidFill>
          <a:ln w="12700">
            <a:solidFill>
              <a:srgbClr val="D09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922776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短协议与精确缓存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86968" y="4480560"/>
            <a:ext cx="4718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紧凑字段和360 Token单次输出上限。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缓存按提示版本、模型和运行配置隔离。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5080" y="3749040"/>
            <a:ext cx="51663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3749040"/>
            <a:ext cx="64008" cy="1755648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92277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限用证据路径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583680" y="4480560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明确问候、无争议单订单发货查询可不用模型。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风险、负面情绪、历史争议和混合问题继续完整分析。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功能演示：退货后退款受阻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S00381，2026-05-19 15:44:33，先展示三源记录，再切换历史回放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核心功能演示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15</a:t>
            </a:r>
            <a:endParaRPr lang="en-US" sz="900" dirty="0"/>
          </a:p>
        </p:txBody>
      </p:sp>
      <p:pic>
        <p:nvPicPr>
          <p:cNvPr id="8" name="Image 0" descr="E:\1jingsai\欧莱美\github-upload\beauty-service-copilot\evaluation\results\submission_ui_20261010\02_refund_dra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306" y="1709928"/>
            <a:ext cx="7066483" cy="44165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94192" y="16367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辅助区局部放大</a:t>
            </a:r>
            <a:endParaRPr lang="en-US" sz="1800" dirty="0"/>
          </a:p>
        </p:txBody>
      </p:sp>
      <p:pic>
        <p:nvPicPr>
          <p:cNvPr id="10" name="Image 1" descr="E:\1jingsai\欧莱美\github-upload\beauty-service-copilot\evaluation\results\submission_ui_20261010\02_refund_draft.png">    </p:cNvPr>
          <p:cNvPicPr>
            <a:picLocks noChangeAspect="1"/>
          </p:cNvPicPr>
          <p:nvPr/>
        </p:nvPicPr>
        <p:blipFill>
          <a:blip r:embed="rId2"/>
          <a:srcRect l="76875" r="0" t="13000" b="45000"/>
          <a:stretch/>
        </p:blipFill>
        <p:spPr>
          <a:xfrm>
            <a:off x="8394192" y="2271048"/>
            <a:ext cx="3063240" cy="34771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94192" y="590702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同一原图裁切，内容未改写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功能演示：人工审核与跟进任务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在回复编辑区保存采纳决定，再认领待核事项，处置备注和状态历史持续留存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核心功能演示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15</a:t>
            </a:r>
            <a:endParaRPr lang="en-US" sz="900" dirty="0"/>
          </a:p>
        </p:txBody>
      </p:sp>
      <p:pic>
        <p:nvPicPr>
          <p:cNvPr id="8" name="Image 0" descr="E:\1jingsai\欧莱美\github-upload\beauty-service-copilot\evaluation\results\submission_ui_20261010\03_review_and_follow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09" y="1508760"/>
            <a:ext cx="7256678" cy="45354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94192" y="19202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审核回复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394192" y="2496312"/>
            <a:ext cx="30632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编辑草稿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采纳或拒绝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保存修改内容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394192" y="39044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任务跟进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394192" y="4489704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认领待核事项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记录备注及状态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保留操作历史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功能演示：举报预警与风险看板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S00076的举报表达触发人工跟进，看板显示已认领和处理中状态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核心功能演示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15</a:t>
            </a:r>
            <a:endParaRPr lang="en-US" sz="900" dirty="0"/>
          </a:p>
        </p:txBody>
      </p:sp>
      <p:pic>
        <p:nvPicPr>
          <p:cNvPr id="8" name="Image 0" descr="E:\1jingsai\欧莱美\github-upload\beauty-service-copilot\evaluation\results\submission_ui_20261010\06_risk_ow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434" y="1508760"/>
            <a:ext cx="6123779" cy="45354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08592" y="199339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定位与处置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308592" y="2688336"/>
            <a:ext cx="2212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预警定位会话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返回证据与记录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人工认领核查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保持处理中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308592" y="50932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商品真假尚未核实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落地价值：改善接待与风险跟进方式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面向消费者、一线客服和服务管理，价值对应已实现的工作台操作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落地价值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28800"/>
            <a:ext cx="64008" cy="3337560"/>
          </a:xfrm>
          <a:prstGeom prst="rect">
            <a:avLst/>
          </a:prstGeom>
          <a:solidFill>
            <a:srgbClr val="D09A5C"/>
          </a:solidFill>
          <a:ln w="12700">
            <a:solidFill>
              <a:srgbClr val="D09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客服沿用已提供的信息，回应当前困扰。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核查对象和下一步说明更具体，减少反复解释。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828800"/>
            <a:ext cx="64008" cy="3337560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一线客服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集中查看订单与工单。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从空白回复转为审核草稿，按待核项继续处理。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828800"/>
            <a:ext cx="64008" cy="3337560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服务管理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66760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风险能回到会话和证据。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处理人、备注与历史状态可查，未完成事项持续跟踪。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5413248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5522976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当前证据为MOCK流程验证，真实客服人效和用户满意度仍需业务试点测量。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落地价值：成本与响应耗时实测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10月9日同机同模型，11个共同案例交替两轮，两版各22次请求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落地价值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2011680"/>
            <a:ext cx="336499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011680"/>
            <a:ext cx="64008" cy="2615184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185416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模型请求总Token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743200"/>
            <a:ext cx="29077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2779776"/>
            <a:ext cx="2834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-6.13%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96112" y="382219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16368 → 15364；排除规则路径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16552" y="2011680"/>
            <a:ext cx="336499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16552" y="2011680"/>
            <a:ext cx="64008" cy="2615184"/>
          </a:xfrm>
          <a:prstGeom prst="rect">
            <a:avLst/>
          </a:prstGeom>
          <a:solidFill>
            <a:srgbClr val="D09A5C"/>
          </a:solidFill>
          <a:ln w="12700">
            <a:solidFill>
              <a:srgbClr val="D09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185416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模型中位耗时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45152" y="2743200"/>
            <a:ext cx="29077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54296" y="2779776"/>
            <a:ext cx="2834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-19.60%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654296" y="382219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3.030 → 2.436秒；固定请求小样本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74736" y="2011680"/>
            <a:ext cx="336499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74736" y="2011680"/>
            <a:ext cx="64008" cy="2615184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03336" y="2185416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样本P95耗时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403336" y="2743200"/>
            <a:ext cx="29077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12480" y="2779776"/>
            <a:ext cx="2834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-22.32%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412480" y="382219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3.375 → 2.622秒；非生产SLA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" y="5074920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5184648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另测10月10日补丁12例：总Token7684，系统中位2.69秒，没有新的降本或提速结论。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落地价值：效果证据与适用边界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软件回归、人工标注和回复检查分别报告，先确认可用范围再扩大试点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落地价值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5175504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28800"/>
            <a:ext cx="64008" cy="3520440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002536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已有验证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560320"/>
            <a:ext cx="47183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228 项软件回归通过。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条人工冻结标注，12 条回复复测。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最终声明与服务检查均0检出。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原稿、10条21处调整及证据ID保存。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5166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828800"/>
            <a:ext cx="64008" cy="3520440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00253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仍需补证据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83680" y="256032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原30条规则意图21/30。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Macro-F1约0.4629，较改前下降。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混合情绪10/30，风险29/30。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高风险正例缺失，人工提效未测得。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5504688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5614416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规则无检出仍需要人工语义审核。当前证据支持工程原型，尚不能代表线上效果。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未来规划：验证效果后再扩大接入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近期先补口径和效果证据，通过复核后再增加图片与平台接口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47088"/>
            <a:ext cx="252374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47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1762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独立回复复核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438144" y="1847088"/>
            <a:ext cx="2523744" cy="1115568"/>
          </a:xfrm>
          <a:prstGeom prst="rect">
            <a:avLst/>
          </a:prstGeom>
          <a:solidFill>
            <a:srgbClr val="DCECE7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1947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02736" y="21762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补高风险样本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0" y="1847088"/>
            <a:ext cx="252374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947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82512" y="21762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图片与品牌资料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97696" y="1847088"/>
            <a:ext cx="2523744" cy="1115568"/>
          </a:xfrm>
          <a:prstGeom prst="rect">
            <a:avLst/>
          </a:prstGeom>
          <a:solidFill>
            <a:srgbClr val="DCECE7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288" y="1947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62288" y="21762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鉴权及平台接入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96112" y="37673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近期验证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6112" y="4443984"/>
            <a:ext cx="4663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统一意图、情绪口径，复核回复漏项和错误承诺。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补高风险正例，保存完整人工效率计时。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11112" y="37673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后续接入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11112" y="4443984"/>
            <a:ext cx="4663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审核品牌资料，确认字段和访问权限再接接口。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每次扩展后重跑质量回归和成本测量。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美妆客服共情副驾</dc:title>
  <dc:subject>作品背景与场景洞察、技术方案、核心功能演示、落地价值与未来规划</dc:subject>
  <dc:creator>美妆客服共情副驾</dc:creator>
  <cp:lastModifiedBy>美妆客服共情副驾</cp:lastModifiedBy>
  <cp:revision>1</cp:revision>
  <dcterms:created xsi:type="dcterms:W3CDTF">2026-10-12T10:44:14Z</dcterms:created>
  <dcterms:modified xsi:type="dcterms:W3CDTF">2026-10-12T10:44:14Z</dcterms:modified>
</cp:coreProperties>
</file>